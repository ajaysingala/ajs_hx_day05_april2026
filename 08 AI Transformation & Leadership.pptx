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62" r:id="rId4"/>
    <p:sldId id="264" r:id="rId5"/>
    <p:sldId id="303" r:id="rId6"/>
    <p:sldId id="304" r:id="rId7"/>
    <p:sldId id="305" r:id="rId8"/>
    <p:sldId id="306" r:id="rId9"/>
    <p:sldId id="307" r:id="rId10"/>
    <p:sldId id="308" r:id="rId11"/>
    <p:sldId id="309" r:id="rId12"/>
    <p:sldId id="310" r:id="rId13"/>
    <p:sldId id="311" r:id="rId14"/>
    <p:sldId id="312" r:id="rId15"/>
    <p:sldId id="313" r:id="rId16"/>
    <p:sldId id="314" r:id="rId17"/>
    <p:sldId id="315" r:id="rId18"/>
    <p:sldId id="316" r:id="rId19"/>
    <p:sldId id="317" r:id="rId20"/>
    <p:sldId id="318" r:id="rId21"/>
    <p:sldId id="302" r:id="rId22"/>
    <p:sldId id="273" r:id="rId23"/>
    <p:sldId id="261" r:id="rId24"/>
    <p:sldId id="319" r:id="rId25"/>
    <p:sldId id="320" r:id="rId26"/>
    <p:sldId id="321" r:id="rId27"/>
    <p:sldId id="322" r:id="rId28"/>
    <p:sldId id="323" r:id="rId29"/>
    <p:sldId id="324" r:id="rId30"/>
    <p:sldId id="325" r:id="rId31"/>
    <p:sldId id="326" r:id="rId32"/>
    <p:sldId id="327" r:id="rId33"/>
    <p:sldId id="301" r:id="rId34"/>
    <p:sldId id="277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854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536CE-E45A-AADF-17CE-62DCAD60B5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CA8B13-14FB-FC7A-AE8D-0443EF2052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FAD22-9F50-C88D-0933-C106D418B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D7579-5794-CC00-C045-B791FA7AE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AFCF2-0DEB-5B31-B526-62EBC37E0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64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EDAFE-2D34-239C-C11E-0D5AB8D34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CBE48-7C5D-6D04-0FBA-FAAF900AF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593B1-9F48-9719-053B-3F5ADE53D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469231-46AC-F57A-D902-8D0F88958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3FE03-8F2E-103E-11D0-A27621A03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3434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78430-BCAB-1B0F-AF15-F0E893C43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653EE-F384-CF59-792F-FF4158140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20D31-6CAE-2FB6-153A-B7FF19081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B98F5-8D12-377B-65EF-BC8BE45B7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29027-F24E-A076-D94C-44638BBC2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4764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7A3F7-DD0E-44ED-4EEB-249AABF7B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C653D-D49D-A4FA-4A90-363F30C233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149514-69B0-9D75-AB75-91B84E81F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3F0CED-BEE9-51BC-66AD-2DB565B39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B2C858-6BD8-6F6C-18CC-DD61025D4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B96E2B-3604-BDC8-E54A-4D85F5C24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1386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02470-824B-4058-2C01-DBE9700C8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100F9-D38B-36A7-7D45-54A621844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87207-1406-713D-69FC-90C0D7191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A808A8-687A-6C13-295A-A029B1E363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54EB28-8FF5-8565-09EB-0291EA601C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C54A18-0C92-2393-045B-6CAF563B7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1FF9CC-DC04-60BA-6C96-F30AC957B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5D9D53-A54F-89EC-CCAB-979C254D0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737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02C45-D1E3-2607-6828-9CCF3A969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5398FC-392A-FDAB-C7AE-E6210BBDA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744E78-47C2-5F62-E4D8-2E5E7FD16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CD9E7-7BAD-60B2-B129-E58DFACE4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894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D6826F-7C9B-389B-D3BE-3E86EEAEE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DA1C3F-136F-9E45-0514-741B20986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01C8C-4DBE-3D21-FAB2-B0DB4A6D8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227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F5A2E-0099-9832-239F-CA04757EB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FC63F-2D86-A29C-17EC-75FA93EC3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A19F38-C99B-AA2D-6575-D974606101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1C0AA0-FA71-3666-DC1C-D1D8732E1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F92665-8BD3-E58B-6F97-5F3F0AEE9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4664A6-5CAB-99D8-788D-084B8C74A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3304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57889-AEA8-4506-EEA2-454B0813A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5FF9DB-8691-04E9-6B36-86362522E9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998241-823E-96F4-D240-F61FF2CAA0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B39A56-F6AD-8E3F-E2B7-79D0D078F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A6FDB3-0344-BE41-9AB9-32C3CF269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70EA6-15F8-B839-7E6E-C5576FCE6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914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A7AAF-EE17-169F-1AB6-E30AED053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700CEB-5076-D9B7-2D28-2017F009BF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B8B1B-89D7-F2B2-62B6-12397E624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E3F9E-F277-4FED-D74A-80D7A5A42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6B7DE-F8D2-63C1-1000-F79563564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226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DA0CC6-6B5F-7A14-1AF5-214FD7F5B8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A75CF6-B132-E92D-42E9-B6BEF4BAF6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F2626-8B84-38A1-4301-6C45FB0C6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D5142-E250-53BE-3BE7-1F85F5F0D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54A1F-596C-82D3-CF4F-46032471E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6456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412CF-0A97-D6E9-08A7-94B404CA02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EF4C72-1FF5-95FF-2EF5-016E4E776A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A4C1B-20B9-D303-48D5-5152F3EC9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50320-3EA4-D740-5867-EAF5C6D9F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17687-1800-6FBB-6366-35F680C71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4426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45846-BF1A-FDA3-AF21-CBDF3817E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5D219-9850-A749-A812-DCC6A050A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E396F-1B23-F3A3-0511-712205481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DEF52-9446-668B-36C9-2DBE413EC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B32EA-BB8E-1A78-E352-195F8DE45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2574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34D0-95D6-2A03-AEFF-31BFE64BD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741E04-482B-9185-BE1B-F30C178B7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69F5A-895A-3E20-0F99-18FC81F59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99B35-6AE6-0716-0A3B-488AE99C9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CC7CD-8462-7600-CB80-9ADFC4A59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8068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1805A-E41A-7AD3-9215-E24984304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7EFB5-C607-A863-1696-A0DCDD2A63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5BF1F4-07D4-6A3A-23A7-7F12DC4E74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476EC5-E88E-A84C-B7F6-A24DA323C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AD5988-64CC-0BEF-4262-41FDF2C69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38D28-03B2-C58F-3362-A1606E2F0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2782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48FA1-C0E2-F799-F99A-14B661670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BBE08B-D183-C98F-15F4-3923564B4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CC617D-6738-8322-64CF-3306D9E901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6C13EF-8921-21AF-446E-43A50265D1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2E4F52-35E7-61A4-8AF5-CC7A3A980A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5B8D9-D5AA-5FBB-6C8B-94BD962B9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C2B31D-3BC9-100D-3FFE-311A0E85A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47A129-04E8-C66F-66B9-C93EBD408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68236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4F029-C3BC-0946-5B46-27A62C277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CEDA22-AFE9-0D01-CE95-7689B19E5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270DA7-E55B-3D04-08C6-1A5D4AC69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1A3DB6-CC78-4E99-BF39-B6631CF57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4009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2D5020-86FF-29D2-CF0B-41FA1C497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12C0C5-2392-1961-1D1D-25D58044F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6E48B-1C67-4D12-8E10-27AC939FF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176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6C026-103E-B109-AB8C-6D44A5153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E64F4-13F5-17BC-858F-A91D84A40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4961AB-963E-1504-72A4-A1AB170563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523EF0-71CA-2AA7-FBD0-CEDA44B0D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E5D4D8-83C7-F4C3-84E7-A35FB3495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1641F8-F4E2-CAA8-4C5E-A526C2227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14342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BA75A-F806-44FF-F25C-125C9BF22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D945C1-A2FF-5B51-8FCC-CD265E6425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A4E7DE-6EF8-8E36-0FA4-D6C69C6489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8B6497-FC12-FC5C-D1BE-CB3468C57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604F6-DC90-44B8-7B77-6063A2FEE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ADB8FD-00F8-B052-388B-DA323B887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6792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979D5-D78B-51A4-D507-10241BD86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20A1C5-E115-C982-D300-680CB9BCFB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8A9CA-6D71-4F05-0745-C5908856A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3D602-75B8-A654-AB57-B81FC5305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8E863-DEB4-4044-F68B-76F80BE5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52799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A36B2D-9F42-4E6C-811E-EBB1C46CF7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BB7E0C-5FD8-5909-7828-CFF87FAF9C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09456-A7F9-B919-EDFF-77A9B8A48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707C0-423A-49F8-7B06-1915C0E0A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6D5D8-78EF-1E5F-018E-6A0B3F2C1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78568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C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C3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736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039B7D-65D6-46E6-4D0D-5248DE315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87C1B3-42BF-1C76-BE2B-E8E0F8BF6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7298E-FF3A-263A-A4F6-F667A54D77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9BD994-088D-4DFC-A63A-488DD3725837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B327C-5432-928A-78F3-525A017738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ACEFF-1A2F-E90C-1E3A-45B9DFF323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302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3E9012-068E-580E-8B8F-2451EB4A5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9532D6-39DA-958D-51DB-1D71DCBEE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65381-025A-C3E2-9A48-96CFE8B98D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816CEB-1072-4B22-A473-588D7AF62EB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45B3F-F87A-E427-9837-304E169A59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87EC7-7BD1-4047-A8C3-498FD35E15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7127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A831E-D1DB-BDE8-DA0F-9D8044D8A6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Agentic AI for Leaders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315B3B-2A6A-942B-EC5D-131373CA56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Ajay J. Singala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0139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C374A9-1785-AE64-2B0A-D1C59FC72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AI Transformation &amp; Leadership</a:t>
            </a:r>
            <a:endParaRPr lang="en-US" sz="4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F5BD1-2BC9-18E1-BE9F-FC9DE6E25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5006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3E8498D-DA8F-EF6C-5420-F153D4979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E39696-2F4E-A3CB-2B45-0571098FE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1814321"/>
            <a:ext cx="7772400" cy="4560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8000" dirty="0"/>
              <a:t>Operating Model &amp; Responsible AI</a:t>
            </a:r>
            <a:endParaRPr lang="en-US" sz="8000" b="1" dirty="0"/>
          </a:p>
        </p:txBody>
      </p:sp>
    </p:spTree>
    <p:extLst>
      <p:ext uri="{BB962C8B-B14F-4D97-AF65-F5344CB8AC3E}">
        <p14:creationId xmlns:p14="http://schemas.microsoft.com/office/powerpoint/2010/main" val="30043926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513F5-F9B1-4381-09EB-990F75000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C7298-4070-70A6-B9DF-B0A678BA2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Human + AI Collaboration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B9AC9-93D5-457C-AA90-CECC8F48E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Core Idea</a:t>
            </a:r>
          </a:p>
          <a:p>
            <a:pPr lvl="1"/>
            <a:r>
              <a:rPr lang="en-US" dirty="0"/>
              <a:t>AI does not replace humans — it </a:t>
            </a:r>
            <a:r>
              <a:rPr lang="en-US" b="1" dirty="0"/>
              <a:t>changes how humans work</a:t>
            </a:r>
            <a:r>
              <a:rPr lang="en-US" dirty="0"/>
              <a:t>.</a:t>
            </a:r>
          </a:p>
          <a:p>
            <a:endParaRPr lang="en-US" b="1" dirty="0"/>
          </a:p>
          <a:p>
            <a:r>
              <a:rPr lang="en-US" b="1" dirty="0"/>
              <a:t>Two Key Models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Human-in-the-loop (HITL)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Human-on-the-loop (HOTL)</a:t>
            </a:r>
            <a:endParaRPr lang="en-US" b="1" dirty="0"/>
          </a:p>
          <a:p>
            <a:pPr lvl="2"/>
            <a:r>
              <a:rPr lang="en-US" dirty="0"/>
              <a:t>Human is </a:t>
            </a:r>
            <a:r>
              <a:rPr lang="en-US" b="1" dirty="0"/>
              <a:t>actively involved in every step</a:t>
            </a:r>
            <a:endParaRPr lang="en-US" dirty="0"/>
          </a:p>
          <a:p>
            <a:pPr lvl="2"/>
            <a:r>
              <a:rPr lang="en-US" dirty="0"/>
              <a:t>AI generates → Human reviews → Human approves </a:t>
            </a:r>
          </a:p>
          <a:p>
            <a:pPr lvl="2"/>
            <a:r>
              <a:rPr lang="en-US" dirty="0"/>
              <a:t>Used when </a:t>
            </a:r>
            <a:r>
              <a:rPr lang="en-US" b="1" dirty="0"/>
              <a:t>risk is high</a:t>
            </a:r>
            <a:r>
              <a:rPr lang="en-US" dirty="0"/>
              <a:t> 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Example (IT Services):</a:t>
            </a:r>
            <a:endParaRPr lang="en-US" dirty="0"/>
          </a:p>
          <a:p>
            <a:pPr lvl="2"/>
            <a:r>
              <a:rPr lang="en-US" dirty="0"/>
              <a:t>AI drafts a </a:t>
            </a:r>
            <a:r>
              <a:rPr lang="en-US" b="1" dirty="0"/>
              <a:t>production deployment plan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Engineer reviews before execution</a:t>
            </a:r>
          </a:p>
          <a:p>
            <a:pPr lvl="3"/>
            <a:r>
              <a:rPr lang="en-US" dirty="0"/>
              <a:t>Safe, controlled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2638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27B97-5D93-8D38-FEE2-3C4FBC552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998D2-511E-EF96-D2FC-EF20D4500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Human + AI Collaboration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A79BC-3041-7D1F-291D-349B84205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b="1" dirty="0"/>
              <a:t>Human-in-the-loop (HITL)</a:t>
            </a:r>
          </a:p>
          <a:p>
            <a:pPr lvl="1"/>
            <a:r>
              <a:rPr lang="en-US" dirty="0"/>
              <a:t>Human is </a:t>
            </a:r>
            <a:r>
              <a:rPr lang="en-US" b="1" dirty="0"/>
              <a:t>actively involved in every step</a:t>
            </a:r>
            <a:endParaRPr lang="en-US" dirty="0"/>
          </a:p>
          <a:p>
            <a:pPr lvl="1"/>
            <a:r>
              <a:rPr lang="en-US" dirty="0"/>
              <a:t>AI generates → Human reviews → Human approves </a:t>
            </a:r>
          </a:p>
          <a:p>
            <a:pPr lvl="1"/>
            <a:r>
              <a:rPr lang="en-US" dirty="0"/>
              <a:t>Used when </a:t>
            </a:r>
            <a:r>
              <a:rPr lang="en-US" b="1" dirty="0"/>
              <a:t>risk is high</a:t>
            </a:r>
            <a:r>
              <a:rPr lang="en-US" dirty="0"/>
              <a:t> 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Example (IT Services):</a:t>
            </a:r>
            <a:endParaRPr lang="en-US" dirty="0"/>
          </a:p>
          <a:p>
            <a:pPr lvl="2"/>
            <a:r>
              <a:rPr lang="en-US" dirty="0"/>
              <a:t>AI drafts a </a:t>
            </a:r>
            <a:r>
              <a:rPr lang="en-US" b="1" dirty="0"/>
              <a:t>production deployment plan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Engineer reviews before execution</a:t>
            </a:r>
          </a:p>
          <a:p>
            <a:pPr lvl="3"/>
            <a:r>
              <a:rPr lang="en-US" dirty="0"/>
              <a:t>Safe, controlled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900" b="1" dirty="0"/>
              <a:t>Human-on-the-loop (HOTL)</a:t>
            </a:r>
          </a:p>
          <a:p>
            <a:pPr lvl="1"/>
            <a:r>
              <a:rPr lang="en-US" dirty="0"/>
              <a:t>AI works </a:t>
            </a:r>
            <a:r>
              <a:rPr lang="en-US" b="1" dirty="0"/>
              <a:t>independently</a:t>
            </a:r>
            <a:r>
              <a:rPr lang="en-US" dirty="0"/>
              <a:t>, human supervises</a:t>
            </a:r>
          </a:p>
          <a:p>
            <a:pPr lvl="2"/>
            <a:r>
              <a:rPr lang="en-US" dirty="0"/>
              <a:t>AI executes → Human monitors → intervenes if needed </a:t>
            </a:r>
          </a:p>
          <a:p>
            <a:pPr lvl="2"/>
            <a:r>
              <a:rPr lang="en-US" dirty="0"/>
              <a:t>Used when </a:t>
            </a:r>
            <a:r>
              <a:rPr lang="en-US" b="1" dirty="0"/>
              <a:t>tasks are repetitive &amp; low-risk</a:t>
            </a:r>
            <a:r>
              <a:rPr lang="en-US" dirty="0"/>
              <a:t> 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Example:</a:t>
            </a:r>
            <a:endParaRPr lang="en-US" dirty="0"/>
          </a:p>
          <a:p>
            <a:pPr lvl="2"/>
            <a:r>
              <a:rPr lang="en-US" dirty="0"/>
              <a:t>AI auto-resolves </a:t>
            </a:r>
            <a:r>
              <a:rPr lang="en-US" b="1" dirty="0"/>
              <a:t>L1 support tickets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Human steps in only for escalation</a:t>
            </a:r>
          </a:p>
          <a:p>
            <a:pPr lvl="3"/>
            <a:r>
              <a:rPr lang="en-US" dirty="0"/>
              <a:t>Fast, scalable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992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2FCD9-16DB-0706-6A60-3939F2345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 Redesign for AI-Assisted Execution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82E6A-D8C8-3154-DB2A-6D5ED010C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b="1" dirty="0"/>
              <a:t>Core Idea</a:t>
            </a:r>
          </a:p>
          <a:p>
            <a:pPr lvl="1"/>
            <a:r>
              <a:rPr lang="en-IN" dirty="0"/>
              <a:t>AI doesn’t just automate tasks — it </a:t>
            </a:r>
            <a:r>
              <a:rPr lang="en-IN" b="1" dirty="0"/>
              <a:t>changes workflows</a:t>
            </a:r>
            <a:endParaRPr lang="en-IN" dirty="0"/>
          </a:p>
          <a:p>
            <a:endParaRPr lang="en-IN" dirty="0"/>
          </a:p>
          <a:p>
            <a:r>
              <a:rPr lang="en-IN" b="1" dirty="0"/>
              <a:t>Traditional Workflow (Before AI)</a:t>
            </a:r>
          </a:p>
          <a:p>
            <a:pPr lvl="1"/>
            <a:r>
              <a:rPr lang="en-IN" dirty="0"/>
              <a:t>Requirement gathering </a:t>
            </a:r>
          </a:p>
          <a:p>
            <a:pPr lvl="1"/>
            <a:r>
              <a:rPr lang="en-IN" dirty="0"/>
              <a:t>Development </a:t>
            </a:r>
          </a:p>
          <a:p>
            <a:pPr lvl="1"/>
            <a:r>
              <a:rPr lang="en-IN" dirty="0"/>
              <a:t>Testing </a:t>
            </a:r>
          </a:p>
          <a:p>
            <a:pPr lvl="1"/>
            <a:r>
              <a:rPr lang="en-IN" dirty="0"/>
              <a:t>Deployment </a:t>
            </a:r>
          </a:p>
          <a:p>
            <a:pPr lvl="1"/>
            <a:r>
              <a:rPr lang="en-IN" dirty="0"/>
              <a:t>Support </a:t>
            </a:r>
          </a:p>
          <a:p>
            <a:pPr lvl="1"/>
            <a:r>
              <a:rPr lang="en-IN" dirty="0"/>
              <a:t>Linear, human-heavy, slower</a:t>
            </a:r>
          </a:p>
          <a:p>
            <a:endParaRPr lang="en-IN" dirty="0"/>
          </a:p>
          <a:p>
            <a:r>
              <a:rPr lang="en-IN" b="1" dirty="0"/>
              <a:t>AI-Assisted Workflow (After AI)</a:t>
            </a:r>
          </a:p>
          <a:p>
            <a:pPr lvl="1"/>
            <a:r>
              <a:rPr lang="en-IN" dirty="0"/>
              <a:t>AI helps draft requirements </a:t>
            </a:r>
          </a:p>
          <a:p>
            <a:pPr lvl="1"/>
            <a:r>
              <a:rPr lang="en-IN" dirty="0"/>
              <a:t>AI generates code suggestions </a:t>
            </a:r>
          </a:p>
          <a:p>
            <a:pPr lvl="1"/>
            <a:r>
              <a:rPr lang="en-IN" dirty="0"/>
              <a:t>AI auto-tests </a:t>
            </a:r>
          </a:p>
          <a:p>
            <a:pPr lvl="1"/>
            <a:r>
              <a:rPr lang="en-IN" dirty="0"/>
              <a:t>AI monitors deployment </a:t>
            </a:r>
          </a:p>
          <a:p>
            <a:pPr lvl="1"/>
            <a:r>
              <a:rPr lang="en-IN" dirty="0"/>
              <a:t>AI resolves tickets </a:t>
            </a:r>
          </a:p>
          <a:p>
            <a:pPr lvl="1"/>
            <a:r>
              <a:rPr lang="en-IN" dirty="0"/>
              <a:t>Parallel, faster, augmented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8040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6EA4E-F211-21A4-DBFA-302E45123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3E3E5-D477-FE7D-8B38-EF784814E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 Redesign for AI-Assisted Execution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E9C66-9340-D335-4561-10F9577F9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Example: Incident Management</a:t>
            </a:r>
          </a:p>
          <a:p>
            <a:pPr lvl="1"/>
            <a:r>
              <a:rPr lang="en-IN" b="1" dirty="0"/>
              <a:t>Before AI:</a:t>
            </a:r>
            <a:endParaRPr lang="en-IN" dirty="0"/>
          </a:p>
          <a:p>
            <a:pPr lvl="2"/>
            <a:r>
              <a:rPr lang="en-IN" dirty="0"/>
              <a:t>Ticket comes in </a:t>
            </a:r>
          </a:p>
          <a:p>
            <a:pPr lvl="2"/>
            <a:r>
              <a:rPr lang="en-IN" dirty="0"/>
              <a:t>Engineer reads logs </a:t>
            </a:r>
          </a:p>
          <a:p>
            <a:pPr lvl="2"/>
            <a:r>
              <a:rPr lang="en-IN" dirty="0"/>
              <a:t>Diagnoses issue </a:t>
            </a:r>
          </a:p>
          <a:p>
            <a:pPr lvl="2"/>
            <a:r>
              <a:rPr lang="en-IN" dirty="0"/>
              <a:t>Writes resolution </a:t>
            </a:r>
          </a:p>
          <a:p>
            <a:pPr lvl="1"/>
            <a:endParaRPr lang="en-IN" b="1" dirty="0"/>
          </a:p>
          <a:p>
            <a:pPr lvl="1"/>
            <a:r>
              <a:rPr lang="en-IN" b="1" dirty="0"/>
              <a:t>With AI:</a:t>
            </a:r>
            <a:endParaRPr lang="en-IN" dirty="0"/>
          </a:p>
          <a:p>
            <a:pPr lvl="2"/>
            <a:r>
              <a:rPr lang="en-IN" dirty="0"/>
              <a:t>AI summarizes incident </a:t>
            </a:r>
          </a:p>
          <a:p>
            <a:pPr lvl="2"/>
            <a:r>
              <a:rPr lang="en-IN" dirty="0"/>
              <a:t>AI suggests root cause </a:t>
            </a:r>
          </a:p>
          <a:p>
            <a:pPr lvl="2"/>
            <a:r>
              <a:rPr lang="en-IN" dirty="0"/>
              <a:t>AI proposes fix </a:t>
            </a:r>
          </a:p>
          <a:p>
            <a:pPr lvl="2"/>
            <a:r>
              <a:rPr lang="en-IN" dirty="0"/>
              <a:t>Human validates </a:t>
            </a:r>
          </a:p>
          <a:p>
            <a:endParaRPr lang="en-IN" dirty="0"/>
          </a:p>
          <a:p>
            <a:r>
              <a:rPr lang="en-IN" dirty="0"/>
              <a:t>Time reduced from </a:t>
            </a:r>
            <a:r>
              <a:rPr lang="en-IN" b="1" dirty="0"/>
              <a:t>hours → minutes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4455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544A1-99EA-E067-E499-71F6585AA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DFBD9-DB7D-7A6B-49BB-2082A2F7C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 Redesign for AI-Assisted Execution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762C1-23E6-E4C9-F724-8D391ED3A1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Key changes in Operating Model: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222E540-711A-DBEB-EBD8-FF054BFE5A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1231745"/>
              </p:ext>
            </p:extLst>
          </p:nvPr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5944292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1487032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1633922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Before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After 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7190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Execution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AI-assisted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8657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Role of human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Reviewer / decision-maker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1440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640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2032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619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C5347-927A-7792-8876-26EAA0112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Responsible AI (Bias, Safety, Accountability)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C1C05-1833-8647-9AA1-1945AEF71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Core Idea</a:t>
            </a:r>
          </a:p>
          <a:p>
            <a:pPr lvl="1"/>
            <a:r>
              <a:rPr lang="en-US" dirty="0"/>
              <a:t>AI is powerful — but </a:t>
            </a:r>
            <a:r>
              <a:rPr lang="en-US" b="1" dirty="0"/>
              <a:t>can make mistakes at scale</a:t>
            </a:r>
            <a:endParaRPr lang="en-US" dirty="0"/>
          </a:p>
          <a:p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Bias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Safety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Accountability</a:t>
            </a:r>
          </a:p>
          <a:p>
            <a:pPr marL="514350" indent="-514350">
              <a:buFont typeface="+mj-lt"/>
              <a:buAutoNum type="arabicPeriod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70533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BEA16-FEE9-02F2-8C14-99B03EB09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FED5F-E55F-BE8C-630F-9D04B79A1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Responsible AI (Bias, Safety, Accountability)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D5BA7-CB92-251F-E30D-CF1473437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1. Bias</a:t>
            </a:r>
          </a:p>
          <a:p>
            <a:pPr lvl="1"/>
            <a:r>
              <a:rPr lang="en-US" dirty="0"/>
              <a:t>AI reflects </a:t>
            </a:r>
            <a:r>
              <a:rPr lang="en-US" b="1" dirty="0"/>
              <a:t>data it was trained on</a:t>
            </a:r>
            <a:endParaRPr lang="en-US" dirty="0"/>
          </a:p>
          <a:p>
            <a:pPr lvl="1"/>
            <a:endParaRPr lang="en-US" b="1" dirty="0"/>
          </a:p>
          <a:p>
            <a:pPr lvl="1"/>
            <a:r>
              <a:rPr lang="en-US" b="1" dirty="0"/>
              <a:t>Example:</a:t>
            </a:r>
            <a:endParaRPr lang="en-US" dirty="0"/>
          </a:p>
          <a:p>
            <a:pPr lvl="2"/>
            <a:r>
              <a:rPr lang="en-US" dirty="0"/>
              <a:t>Resume screening AI prefers certain profiles </a:t>
            </a:r>
          </a:p>
          <a:p>
            <a:pPr lvl="2"/>
            <a:r>
              <a:rPr lang="en-US" dirty="0"/>
              <a:t>Claims AI unfairly flags certain customer groups </a:t>
            </a:r>
          </a:p>
          <a:p>
            <a:pPr lvl="2"/>
            <a:r>
              <a:rPr lang="en-US" dirty="0"/>
              <a:t>Risk: </a:t>
            </a:r>
            <a:r>
              <a:rPr lang="en-US" b="1" dirty="0"/>
              <a:t>Unfair decisions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256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4168F-1420-6844-6C10-D23B4A4D7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D7B48-F86A-797F-A1A7-BAA13DA63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Responsible AI (Bias, Safety, Accountability)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8B6DD-CA71-1533-81E9-B8A196655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2. Safety</a:t>
            </a:r>
          </a:p>
          <a:p>
            <a:pPr lvl="1"/>
            <a:r>
              <a:rPr lang="en-US" dirty="0"/>
              <a:t>AI can generate </a:t>
            </a:r>
            <a:r>
              <a:rPr lang="en-US" b="1" dirty="0"/>
              <a:t>incorrect or harmful outputs</a:t>
            </a:r>
            <a:endParaRPr lang="en-US" dirty="0"/>
          </a:p>
          <a:p>
            <a:pPr lvl="1"/>
            <a:endParaRPr lang="en-US" b="1" dirty="0"/>
          </a:p>
          <a:p>
            <a:pPr lvl="1"/>
            <a:r>
              <a:rPr lang="en-US" b="1" dirty="0"/>
              <a:t>Example:</a:t>
            </a:r>
            <a:endParaRPr lang="en-US" dirty="0"/>
          </a:p>
          <a:p>
            <a:pPr lvl="2"/>
            <a:r>
              <a:rPr lang="en-US" dirty="0"/>
              <a:t>Wrong production fix suggested </a:t>
            </a:r>
          </a:p>
          <a:p>
            <a:pPr lvl="2"/>
            <a:r>
              <a:rPr lang="en-US" dirty="0"/>
              <a:t>Incorrect compliance advice </a:t>
            </a:r>
          </a:p>
          <a:p>
            <a:pPr lvl="1"/>
            <a:r>
              <a:rPr lang="en-US" dirty="0"/>
              <a:t>Risk: </a:t>
            </a:r>
            <a:r>
              <a:rPr lang="en-US" b="1" dirty="0"/>
              <a:t>Operational failure / legal issues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708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EB91A-53F2-EBE0-02B1-573071855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7399F-BFF0-C473-3E03-97F7DEC81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Responsible AI (Bias, Safety, Accountability)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E0C32-5917-5E91-6D06-7A188AAD5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3. Accountability</a:t>
            </a:r>
          </a:p>
          <a:p>
            <a:pPr lvl="1"/>
            <a:r>
              <a:rPr lang="en-US" dirty="0"/>
              <a:t>Who is responsible for AI decisions?</a:t>
            </a:r>
          </a:p>
          <a:p>
            <a:pPr lvl="1"/>
            <a:r>
              <a:rPr lang="en-US" dirty="0"/>
              <a:t>Developer? </a:t>
            </a:r>
          </a:p>
          <a:p>
            <a:pPr lvl="1"/>
            <a:r>
              <a:rPr lang="en-US" dirty="0"/>
              <a:t>Business owner? </a:t>
            </a:r>
          </a:p>
          <a:p>
            <a:pPr lvl="1"/>
            <a:r>
              <a:rPr lang="en-US" dirty="0"/>
              <a:t>Organization? 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Example:</a:t>
            </a:r>
            <a:endParaRPr lang="en-US" dirty="0"/>
          </a:p>
          <a:p>
            <a:pPr lvl="2"/>
            <a:r>
              <a:rPr lang="en-US" dirty="0"/>
              <a:t>AI approves a fraudulent claim</a:t>
            </a:r>
          </a:p>
          <a:p>
            <a:pPr lvl="2"/>
            <a:r>
              <a:rPr lang="en-US" dirty="0"/>
              <a:t>Who is accountable?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885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A9405-E44D-D2C8-36CE-736E6BC39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4E920-E30D-C965-CA45-7D4D72AD6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Responsible AI (Bias, Safety, Accountability)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FE8B5-3083-AE8F-A393-33B597A3C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Simple Framework: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37B54EF-44E4-5679-6080-7888EFCB2C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8875336"/>
              </p:ext>
            </p:extLst>
          </p:nvPr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11205682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5673035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Principle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What it means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2985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Fairness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bias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3358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Safety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harmful outputs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8308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Transparency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Explainable decisions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2449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Accountability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Clear ownership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75850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32007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9D2D5-1FAC-EA0E-7DF0-8F44B63E0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Governance: Risks in AI Systems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30C57-96F6-6E77-56BA-ECEFF3FB6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Core Idea</a:t>
            </a:r>
          </a:p>
          <a:p>
            <a:pPr lvl="1"/>
            <a:r>
              <a:rPr lang="en-US" dirty="0"/>
              <a:t>AI introduces </a:t>
            </a:r>
            <a:r>
              <a:rPr lang="en-US" b="1" dirty="0"/>
              <a:t>new types of risks</a:t>
            </a:r>
            <a:r>
              <a:rPr lang="en-US" dirty="0"/>
              <a:t> beyond traditional IT</a:t>
            </a:r>
          </a:p>
          <a:p>
            <a:endParaRPr lang="en-IN" dirty="0"/>
          </a:p>
          <a:p>
            <a:pPr marL="514350" indent="-514350">
              <a:buAutoNum type="arabicPeriod"/>
            </a:pPr>
            <a:r>
              <a:rPr lang="en-IN" dirty="0"/>
              <a:t>Data Risk</a:t>
            </a:r>
          </a:p>
          <a:p>
            <a:pPr marL="514350" indent="-514350">
              <a:buAutoNum type="arabicPeriod"/>
            </a:pPr>
            <a:r>
              <a:rPr lang="en-IN" dirty="0"/>
              <a:t>Hallucination Risk</a:t>
            </a:r>
          </a:p>
          <a:p>
            <a:pPr marL="514350" indent="-514350">
              <a:buAutoNum type="arabicPeriod"/>
            </a:pPr>
            <a:r>
              <a:rPr lang="en-IN" dirty="0"/>
              <a:t>Misuse Risk</a:t>
            </a:r>
          </a:p>
          <a:p>
            <a:pPr marL="514350" indent="-514350">
              <a:buAutoNum type="arabicPeriod"/>
            </a:pPr>
            <a:r>
              <a:rPr lang="en-IN" dirty="0"/>
              <a:t>Over-Automation Risk</a:t>
            </a:r>
          </a:p>
          <a:p>
            <a:pPr marL="514350" indent="-514350"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0750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8B8D2-52F4-33F9-C604-E4329C3EC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1ADE4-0F8B-548C-272D-A496759A1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Governance: Risks in AI Systems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60132-14CA-5203-CC29-D80BD9FE7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1. Data Risk</a:t>
            </a:r>
          </a:p>
          <a:p>
            <a:pPr lvl="1"/>
            <a:r>
              <a:rPr lang="en-US" dirty="0"/>
              <a:t>AI depends heavily on data quality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Examples:</a:t>
            </a:r>
            <a:endParaRPr lang="en-US" dirty="0"/>
          </a:p>
          <a:p>
            <a:pPr lvl="2"/>
            <a:r>
              <a:rPr lang="en-US" dirty="0"/>
              <a:t>Sensitive data leakage </a:t>
            </a:r>
          </a:p>
          <a:p>
            <a:pPr lvl="2"/>
            <a:r>
              <a:rPr lang="en-US" dirty="0"/>
              <a:t>Poor quality data → wrong outputs </a:t>
            </a:r>
          </a:p>
          <a:p>
            <a:pPr lvl="2"/>
            <a:r>
              <a:rPr lang="en-US" dirty="0"/>
              <a:t>Risk: Compliance + accuracy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08871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D891A-B332-8912-80CD-3A0585CD2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AECE8-A577-24A1-03F5-0B1C7CA7B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Governance: Risks in AI Systems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94B86-BB83-5AB2-4A30-BF3950FB10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2. Hallucination Risk</a:t>
            </a:r>
          </a:p>
          <a:p>
            <a:pPr lvl="1"/>
            <a:r>
              <a:rPr lang="en-US" dirty="0"/>
              <a:t>AI can generate </a:t>
            </a:r>
            <a:r>
              <a:rPr lang="en-US" b="1" dirty="0"/>
              <a:t>confident but wrong answers</a:t>
            </a:r>
            <a:endParaRPr lang="en-US" dirty="0"/>
          </a:p>
          <a:p>
            <a:pPr lvl="1"/>
            <a:endParaRPr lang="en-US" b="1" dirty="0"/>
          </a:p>
          <a:p>
            <a:pPr lvl="1"/>
            <a:r>
              <a:rPr lang="en-US" b="1" dirty="0"/>
              <a:t>Example:</a:t>
            </a:r>
            <a:endParaRPr lang="en-US" dirty="0"/>
          </a:p>
          <a:p>
            <a:pPr lvl="2"/>
            <a:r>
              <a:rPr lang="en-US" dirty="0"/>
              <a:t>AI suggests a fix that doesn’t exist </a:t>
            </a:r>
          </a:p>
          <a:p>
            <a:pPr lvl="2"/>
            <a:r>
              <a:rPr lang="en-US" dirty="0"/>
              <a:t>AI generates fake documentation </a:t>
            </a:r>
          </a:p>
          <a:p>
            <a:pPr lvl="2"/>
            <a:r>
              <a:rPr lang="en-US" dirty="0"/>
              <a:t>Risk: Decision errors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00487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C3143-4770-1AB2-6A44-77161BA44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BD52E-F781-DA59-26AC-6239C78BD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Governance: Risks in AI Systems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FA92A-DBB0-92B8-4CF2-A32DE3D728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3. Misuse Risk</a:t>
            </a:r>
          </a:p>
          <a:p>
            <a:pPr lvl="1"/>
            <a:r>
              <a:rPr lang="en-US" dirty="0"/>
              <a:t>AI can be used incorrectly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Examples:</a:t>
            </a:r>
            <a:endParaRPr lang="en-US" dirty="0"/>
          </a:p>
          <a:p>
            <a:pPr lvl="2"/>
            <a:r>
              <a:rPr lang="en-US" dirty="0"/>
              <a:t>Employees blindly trusting AI </a:t>
            </a:r>
          </a:p>
          <a:p>
            <a:pPr lvl="2"/>
            <a:r>
              <a:rPr lang="en-US" dirty="0"/>
              <a:t>Using AI for unauthorized tasks </a:t>
            </a:r>
          </a:p>
          <a:p>
            <a:pPr lvl="2"/>
            <a:r>
              <a:rPr lang="en-US" dirty="0"/>
              <a:t>Prompt injection attacks </a:t>
            </a:r>
          </a:p>
          <a:p>
            <a:pPr lvl="2"/>
            <a:r>
              <a:rPr lang="en-US" dirty="0"/>
              <a:t>Risk: Security + business damage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82583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04E84-C1C9-E17C-3186-3F8CA287A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3DAF2-5559-5B16-8BCE-A4627F235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Governance: Risks in AI Systems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94A4E-94A4-C278-474F-37B214290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4. Over-Automation Risk</a:t>
            </a:r>
          </a:p>
          <a:p>
            <a:pPr lvl="1"/>
            <a:r>
              <a:rPr lang="en-US" dirty="0"/>
              <a:t>Too much reliance on AI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Example:</a:t>
            </a:r>
            <a:endParaRPr lang="en-US" dirty="0"/>
          </a:p>
          <a:p>
            <a:pPr lvl="2"/>
            <a:r>
              <a:rPr lang="en-US" dirty="0"/>
              <a:t>Fully automated deployments without checks </a:t>
            </a:r>
          </a:p>
          <a:p>
            <a:pPr lvl="2"/>
            <a:r>
              <a:rPr lang="en-US" dirty="0"/>
              <a:t>AI approving financial transactions </a:t>
            </a:r>
          </a:p>
          <a:p>
            <a:pPr lvl="2"/>
            <a:r>
              <a:rPr lang="en-US" dirty="0"/>
              <a:t>Risk: Loss of control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36413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94270-F2D8-7EFA-EBF9-B30CECB80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39716-B509-B0A7-270B-02582EBB8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Governance: Risks in AI Systems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32F49-EC35-026D-C3BB-F37FED435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Governance Controls</a:t>
            </a:r>
            <a:endParaRPr lang="en-IN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A1869D6-B4B5-A1D3-B7C4-E2A1C7E84F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4886508"/>
              </p:ext>
            </p:extLst>
          </p:nvPr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89594185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4957999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Control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2316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Access control, data masking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36536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Hallucination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Human validation, grounding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31506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Misuse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Policies, training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5389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Over-automation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Human checkpoints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83946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78123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B2C35-0956-0723-6CB3-757D734F3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49E93-5B3F-BE49-FCF7-025BB9059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risk register for a selected use case</a:t>
            </a:r>
          </a:p>
          <a:p>
            <a:r>
              <a:rPr lang="en-IN" dirty="0"/>
              <a:t>Define mitigation approaches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65562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A60591-FF6C-0AC3-0377-8CE9A21C8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EDC4742-3D24-FAE0-DDBF-4C813EE8A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53C103-9948-FEF6-C6CB-380D247F6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1814321"/>
            <a:ext cx="7772400" cy="4560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8000" dirty="0"/>
              <a:t>ROI &amp; Strategic Alignment</a:t>
            </a:r>
            <a:endParaRPr lang="en-US" sz="8000" b="1" dirty="0"/>
          </a:p>
        </p:txBody>
      </p:sp>
    </p:spTree>
    <p:extLst>
      <p:ext uri="{BB962C8B-B14F-4D97-AF65-F5344CB8AC3E}">
        <p14:creationId xmlns:p14="http://schemas.microsoft.com/office/powerpoint/2010/main" val="12720572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DBBAC-1227-A489-45E7-E9A968D58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ROI Frameworks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DDF9D-F52E-1906-8D43-230BB940A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Cost vs Value</a:t>
            </a:r>
          </a:p>
          <a:p>
            <a:r>
              <a:rPr lang="en-US" dirty="0"/>
              <a:t>Prioritization Framework (Where to Start?)</a:t>
            </a:r>
          </a:p>
          <a:p>
            <a:r>
              <a:rPr lang="en-IN" dirty="0"/>
              <a:t>Time-to-Value (TTV)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77039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3FB71-7484-906D-1E26-5255BBEDA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E70ED-5E94-3DEB-5331-6FE9FFB97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ROI Frameworks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AC66D-96C5-CF41-BFF6-AF8FB383E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Cost vs Value</a:t>
            </a:r>
          </a:p>
          <a:p>
            <a:pPr lvl="1"/>
            <a:r>
              <a:rPr lang="en-US" dirty="0"/>
              <a:t>Costs of AI:</a:t>
            </a:r>
          </a:p>
          <a:p>
            <a:pPr lvl="2"/>
            <a:r>
              <a:rPr lang="en-US" dirty="0"/>
              <a:t>Technology (tools, models, licenses) </a:t>
            </a:r>
          </a:p>
          <a:p>
            <a:pPr lvl="2"/>
            <a:r>
              <a:rPr lang="en-US" dirty="0"/>
              <a:t>Data preparation </a:t>
            </a:r>
          </a:p>
          <a:p>
            <a:pPr lvl="2"/>
            <a:r>
              <a:rPr lang="en-US" dirty="0"/>
              <a:t>Integration with existing systems </a:t>
            </a:r>
          </a:p>
          <a:p>
            <a:pPr lvl="2"/>
            <a:r>
              <a:rPr lang="en-US" dirty="0"/>
              <a:t>Change management (training teams)</a:t>
            </a:r>
          </a:p>
          <a:p>
            <a:endParaRPr lang="en-IN" dirty="0"/>
          </a:p>
          <a:p>
            <a:pPr lvl="1"/>
            <a:r>
              <a:rPr lang="en-US" dirty="0"/>
              <a:t>Value from AI:</a:t>
            </a:r>
          </a:p>
          <a:p>
            <a:pPr lvl="2"/>
            <a:r>
              <a:rPr lang="en-US" dirty="0"/>
              <a:t>Cost reduction (automation) </a:t>
            </a:r>
          </a:p>
          <a:p>
            <a:pPr lvl="2"/>
            <a:r>
              <a:rPr lang="en-US" dirty="0"/>
              <a:t>Revenue increase (better targeting, upselling) </a:t>
            </a:r>
          </a:p>
          <a:p>
            <a:pPr lvl="2"/>
            <a:r>
              <a:rPr lang="en-US" dirty="0"/>
              <a:t>Productivity gains </a:t>
            </a:r>
          </a:p>
          <a:p>
            <a:pPr lvl="2"/>
            <a:r>
              <a:rPr lang="en-US" dirty="0"/>
              <a:t>Faster decision-making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0112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46E88-B433-B1F1-A921-DDAE93732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DC1F9-96A8-CEBD-7335-DB791940B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ROI Frameworks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FFA63-1B77-2A3A-C3FF-088B7AB88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Prioritization Framework (Where to Start?)</a:t>
            </a:r>
          </a:p>
          <a:p>
            <a:pPr lvl="1"/>
            <a:r>
              <a:rPr lang="en-US" dirty="0"/>
              <a:t>Not all AI use cases are equal.</a:t>
            </a:r>
          </a:p>
          <a:p>
            <a:pPr lvl="1"/>
            <a:endParaRPr lang="en-IN" b="1" dirty="0"/>
          </a:p>
          <a:p>
            <a:pPr lvl="1"/>
            <a:r>
              <a:rPr lang="en-IN" b="1" dirty="0"/>
              <a:t>Examples</a:t>
            </a:r>
          </a:p>
          <a:p>
            <a:pPr lvl="2"/>
            <a:r>
              <a:rPr lang="en-IN" b="1" dirty="0"/>
              <a:t>Quick Win</a:t>
            </a:r>
          </a:p>
          <a:p>
            <a:pPr lvl="3"/>
            <a:r>
              <a:rPr lang="en-IN" dirty="0"/>
              <a:t>AI-generated </a:t>
            </a:r>
            <a:r>
              <a:rPr lang="en-IN" b="1" dirty="0"/>
              <a:t>incident summaries</a:t>
            </a:r>
            <a:r>
              <a:rPr lang="en-IN" dirty="0"/>
              <a:t> </a:t>
            </a:r>
          </a:p>
          <a:p>
            <a:pPr lvl="3"/>
            <a:r>
              <a:rPr lang="en-IN" dirty="0"/>
              <a:t>AI for </a:t>
            </a:r>
            <a:r>
              <a:rPr lang="en-IN" b="1" dirty="0"/>
              <a:t>email drafting</a:t>
            </a:r>
            <a:r>
              <a:rPr lang="en-IN" dirty="0"/>
              <a:t> </a:t>
            </a:r>
          </a:p>
          <a:p>
            <a:pPr lvl="3"/>
            <a:r>
              <a:rPr lang="en-IN" dirty="0"/>
              <a:t>Low cost, immediate impact</a:t>
            </a:r>
          </a:p>
          <a:p>
            <a:pPr lvl="2"/>
            <a:endParaRPr lang="en-IN" dirty="0"/>
          </a:p>
          <a:p>
            <a:pPr lvl="2"/>
            <a:r>
              <a:rPr lang="en-IN" b="1" dirty="0"/>
              <a:t>Strategic Bet</a:t>
            </a:r>
          </a:p>
          <a:p>
            <a:pPr lvl="3"/>
            <a:r>
              <a:rPr lang="en-IN" dirty="0"/>
              <a:t>AI-driven </a:t>
            </a:r>
            <a:r>
              <a:rPr lang="en-IN" b="1" dirty="0"/>
              <a:t>fraud detection system</a:t>
            </a:r>
            <a:r>
              <a:rPr lang="en-IN" dirty="0"/>
              <a:t> </a:t>
            </a:r>
          </a:p>
          <a:p>
            <a:pPr lvl="3"/>
            <a:r>
              <a:rPr lang="en-IN" dirty="0"/>
              <a:t>AI-based </a:t>
            </a:r>
            <a:r>
              <a:rPr lang="en-IN" b="1" dirty="0"/>
              <a:t>end-to-end automation</a:t>
            </a:r>
            <a:r>
              <a:rPr lang="en-IN" dirty="0"/>
              <a:t> </a:t>
            </a:r>
          </a:p>
          <a:p>
            <a:pPr lvl="3"/>
            <a:r>
              <a:rPr lang="en-IN" dirty="0"/>
              <a:t>High value, but needs time &amp; investment</a:t>
            </a:r>
          </a:p>
          <a:p>
            <a:pPr lvl="2"/>
            <a:endParaRPr lang="en-IN" dirty="0"/>
          </a:p>
          <a:p>
            <a:pPr lvl="2"/>
            <a:r>
              <a:rPr lang="en-IN" b="1" dirty="0"/>
              <a:t>Avoid</a:t>
            </a:r>
          </a:p>
          <a:p>
            <a:pPr lvl="3"/>
            <a:r>
              <a:rPr lang="en-IN" dirty="0"/>
              <a:t>Complex AI with unclear ROI</a:t>
            </a:r>
          </a:p>
          <a:p>
            <a:pPr lvl="3"/>
            <a:r>
              <a:rPr lang="en-IN" dirty="0"/>
              <a:t>“Cool tech” but no business need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72310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CC706-0CCF-2F0B-FF02-15E637EBE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67F08-2642-72EC-FF02-F4AAC1C21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ROI Frameworks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10DC5-732B-1BE1-406D-70C82DE8E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Time-to-Value (TTV)</a:t>
            </a:r>
          </a:p>
          <a:p>
            <a:pPr lvl="1"/>
            <a:r>
              <a:rPr lang="en-IN" dirty="0"/>
              <a:t>Categories:</a:t>
            </a:r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US" b="1" dirty="0"/>
          </a:p>
          <a:p>
            <a:pPr lvl="1"/>
            <a:r>
              <a:rPr lang="en-US" b="1" dirty="0"/>
              <a:t>Example</a:t>
            </a:r>
          </a:p>
          <a:p>
            <a:pPr lvl="2"/>
            <a:r>
              <a:rPr lang="en-US" b="1" dirty="0"/>
              <a:t>AI Copilot for developers</a:t>
            </a:r>
            <a:endParaRPr lang="en-US" dirty="0"/>
          </a:p>
          <a:p>
            <a:pPr lvl="3"/>
            <a:r>
              <a:rPr lang="en-US" dirty="0"/>
              <a:t>Setup: 2 weeks </a:t>
            </a:r>
          </a:p>
          <a:p>
            <a:pPr lvl="3"/>
            <a:r>
              <a:rPr lang="en-US" dirty="0"/>
              <a:t>Productivity gain: Immediate </a:t>
            </a:r>
          </a:p>
          <a:p>
            <a:pPr lvl="2"/>
            <a:r>
              <a:rPr lang="en-US" b="1" dirty="0"/>
              <a:t>AI transformation in claims processing</a:t>
            </a:r>
            <a:endParaRPr lang="en-US" dirty="0"/>
          </a:p>
          <a:p>
            <a:pPr lvl="3"/>
            <a:r>
              <a:rPr lang="en-US" dirty="0"/>
              <a:t>Setup: 6 months </a:t>
            </a:r>
          </a:p>
          <a:p>
            <a:pPr lvl="3"/>
            <a:r>
              <a:rPr lang="en-US" dirty="0"/>
              <a:t>ROI: Long-term but large</a:t>
            </a:r>
          </a:p>
          <a:p>
            <a:pPr lvl="1"/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2BF7192-93ED-82B2-501E-FD07FF66C3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8068433"/>
              </p:ext>
            </p:extLst>
          </p:nvPr>
        </p:nvGraphicFramePr>
        <p:xfrm>
          <a:off x="838200" y="2538254"/>
          <a:ext cx="10515600" cy="1463040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61389975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77596056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9750219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Timeline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3583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Immediate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Weeks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Chatbots, copilots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5802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Medium-term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3–6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AI-assisted workflows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0612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Long-term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6–18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Full automation systems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38288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31225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AE670-06B5-322A-43B2-65E6B7AAE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Adoption Roadmap for Business Units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DD351-87E4-B768-2A23-38500FCA8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4-Stage Roadmap:</a:t>
            </a:r>
          </a:p>
          <a:p>
            <a:pPr lvl="1"/>
            <a:r>
              <a:rPr lang="en-IN" dirty="0"/>
              <a:t>Stage 1: Experimentation</a:t>
            </a:r>
          </a:p>
          <a:p>
            <a:pPr lvl="1"/>
            <a:r>
              <a:rPr lang="en-IN" dirty="0"/>
              <a:t>Stage 2: Augmentation</a:t>
            </a:r>
          </a:p>
          <a:p>
            <a:pPr lvl="1"/>
            <a:r>
              <a:rPr lang="en-IN" dirty="0"/>
              <a:t>Stage 3: Automation</a:t>
            </a:r>
          </a:p>
          <a:p>
            <a:pPr lvl="1"/>
            <a:r>
              <a:rPr lang="en-IN" dirty="0"/>
              <a:t>Stage 4: Transformation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14418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9EF84-4B85-097F-EB76-0B370D0A3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B39B4-088D-0CAC-830C-1B4786F52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Adoption Roadmap for Business Units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73F44-0A95-C864-FFFF-A2D991CC3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Stage 1: Experimentation</a:t>
            </a:r>
          </a:p>
          <a:p>
            <a:pPr lvl="1"/>
            <a:r>
              <a:rPr lang="en-US" dirty="0"/>
              <a:t>Try small AI use cases</a:t>
            </a:r>
          </a:p>
          <a:p>
            <a:pPr lvl="1"/>
            <a:r>
              <a:rPr lang="en-US" dirty="0"/>
              <a:t>Pilot projects </a:t>
            </a:r>
          </a:p>
          <a:p>
            <a:pPr lvl="1"/>
            <a:r>
              <a:rPr lang="en-US" dirty="0"/>
              <a:t>Limited scope </a:t>
            </a:r>
          </a:p>
          <a:p>
            <a:pPr lvl="1"/>
            <a:r>
              <a:rPr lang="en-US" dirty="0"/>
              <a:t>Low risk 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Example:</a:t>
            </a:r>
            <a:endParaRPr lang="en-US" dirty="0"/>
          </a:p>
          <a:p>
            <a:pPr lvl="2"/>
            <a:r>
              <a:rPr lang="en-US" dirty="0"/>
              <a:t>Use AI to summarize tickets </a:t>
            </a:r>
          </a:p>
          <a:p>
            <a:pPr lvl="2"/>
            <a:r>
              <a:rPr lang="en-US" dirty="0"/>
              <a:t>Goal: Learn what works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97612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395C8-BB3F-0DB7-D25C-AD8616989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5B276-E985-E11C-287B-7BF041E2D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Adoption Roadmap for Business Units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435A6-6456-720C-2DF0-EAA984550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Stage 2: Augmentation</a:t>
            </a:r>
          </a:p>
          <a:p>
            <a:pPr lvl="1"/>
            <a:r>
              <a:rPr lang="en-US" dirty="0"/>
              <a:t>AI assists humans</a:t>
            </a:r>
          </a:p>
          <a:p>
            <a:pPr lvl="1"/>
            <a:r>
              <a:rPr lang="en-US" dirty="0"/>
              <a:t>Copilots </a:t>
            </a:r>
          </a:p>
          <a:p>
            <a:pPr lvl="1"/>
            <a:r>
              <a:rPr lang="en-US" dirty="0"/>
              <a:t>Decision support </a:t>
            </a:r>
          </a:p>
          <a:p>
            <a:pPr lvl="1"/>
            <a:r>
              <a:rPr lang="en-US" dirty="0"/>
              <a:t>Productivity tools 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Example:</a:t>
            </a:r>
            <a:endParaRPr lang="en-US" dirty="0"/>
          </a:p>
          <a:p>
            <a:pPr lvl="2"/>
            <a:r>
              <a:rPr lang="en-US" dirty="0"/>
              <a:t>AI suggests code fixes </a:t>
            </a:r>
          </a:p>
          <a:p>
            <a:pPr lvl="2"/>
            <a:r>
              <a:rPr lang="en-US" dirty="0"/>
              <a:t>AI drafts reports </a:t>
            </a:r>
          </a:p>
          <a:p>
            <a:pPr lvl="2"/>
            <a:r>
              <a:rPr lang="en-US" dirty="0"/>
              <a:t>Goal: Improve efficiency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95763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7A308-0CB0-72E4-6F5F-9D42904CF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F02B3-22BC-19B4-4BC6-CFE3180C5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Adoption Roadmap for Business Units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0673A-0C6E-45F9-3C0E-EB5E119EB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Stage 3: Automation</a:t>
            </a:r>
          </a:p>
          <a:p>
            <a:pPr lvl="1"/>
            <a:r>
              <a:rPr lang="en-US" dirty="0"/>
              <a:t>AI starts executing tasks</a:t>
            </a:r>
          </a:p>
          <a:p>
            <a:pPr lvl="1"/>
            <a:r>
              <a:rPr lang="en-US" dirty="0"/>
              <a:t>Automated workflows </a:t>
            </a:r>
          </a:p>
          <a:p>
            <a:pPr lvl="1"/>
            <a:r>
              <a:rPr lang="en-US" dirty="0"/>
              <a:t>Reduced manual effort 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Example:</a:t>
            </a:r>
            <a:endParaRPr lang="en-US" dirty="0"/>
          </a:p>
          <a:p>
            <a:pPr lvl="2"/>
            <a:r>
              <a:rPr lang="en-US" dirty="0"/>
              <a:t>AI resolves L1 tickets </a:t>
            </a:r>
          </a:p>
          <a:p>
            <a:pPr lvl="2"/>
            <a:r>
              <a:rPr lang="en-US" dirty="0"/>
              <a:t>AI auto-generates test cases </a:t>
            </a:r>
          </a:p>
          <a:p>
            <a:pPr lvl="2"/>
            <a:r>
              <a:rPr lang="en-US" dirty="0"/>
              <a:t>Goal: Scale operations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98796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E3D56-D5F1-A722-13B6-B9DB9DF91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EB787-473E-C642-877B-A258638E3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Adoption Roadmap for Business Units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196F3-397E-C8F1-6F03-EAF9105FE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Stage 4: Transformation</a:t>
            </a:r>
          </a:p>
          <a:p>
            <a:pPr lvl="1"/>
            <a:r>
              <a:rPr lang="en-US" dirty="0"/>
              <a:t>AI changes the business model</a:t>
            </a:r>
          </a:p>
          <a:p>
            <a:pPr lvl="1"/>
            <a:r>
              <a:rPr lang="en-US" dirty="0"/>
              <a:t>New services </a:t>
            </a:r>
          </a:p>
          <a:p>
            <a:pPr lvl="1"/>
            <a:r>
              <a:rPr lang="en-US" dirty="0"/>
              <a:t>New operating model 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Example:</a:t>
            </a:r>
            <a:endParaRPr lang="en-US" dirty="0"/>
          </a:p>
          <a:p>
            <a:pPr lvl="2"/>
            <a:r>
              <a:rPr lang="en-US" dirty="0"/>
              <a:t>AI-first IT support (24/7 autonomous) </a:t>
            </a:r>
          </a:p>
          <a:p>
            <a:pPr lvl="2"/>
            <a:r>
              <a:rPr lang="en-US" dirty="0"/>
              <a:t>Predictive IT operations </a:t>
            </a:r>
          </a:p>
          <a:p>
            <a:pPr lvl="2"/>
            <a:r>
              <a:rPr lang="en-US" dirty="0"/>
              <a:t>Goal: Competitive advantage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74870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9F880-60DC-9D56-AA49-2193C9D77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948EB-75D4-4C7E-FC90-52256418C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Adoption Roadmap for Business Units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E73B9-E398-787C-02DC-349839EF67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Example: IT Services Journey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372685E-16CA-E709-2061-55B1F682BD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0624967"/>
              </p:ext>
            </p:extLst>
          </p:nvPr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48148298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8450504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88781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Experiment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 for ticket summaries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5754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Augment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 assists engineers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4497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Automate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 resolves tickets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3895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Transform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AI-led support model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77854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63311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760C0-3EF1-FF12-458E-0DFA73BCA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F2E8F-FE31-C5D5-0FC4-6301F4A5DC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 AI business case (problem, solution, impact)</a:t>
            </a:r>
          </a:p>
          <a:p>
            <a:r>
              <a:rPr lang="en-US" dirty="0"/>
              <a:t>Create basic ROI model for their BU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17998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66804-B56F-083C-3F6B-0DF22CC19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952B5-46D9-5C09-0C9A-0DD2CD24B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79826-5E44-C184-8C42-0C25F6EB1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7775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1063</Words>
  <Application>Microsoft Office PowerPoint</Application>
  <PresentationFormat>Widescreen</PresentationFormat>
  <Paragraphs>319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Aptos</vt:lpstr>
      <vt:lpstr>Aptos Display</vt:lpstr>
      <vt:lpstr>Arial</vt:lpstr>
      <vt:lpstr>Neue Haas Grotesk Text Pro</vt:lpstr>
      <vt:lpstr>Office Theme</vt:lpstr>
      <vt:lpstr>1_Office Theme</vt:lpstr>
      <vt:lpstr>Agentic AI for Leaders</vt:lpstr>
      <vt:lpstr>AI Transformation &amp; Leadership</vt:lpstr>
      <vt:lpstr>Operating Model &amp; Responsible AI</vt:lpstr>
      <vt:lpstr>Human + AI Collaboration</vt:lpstr>
      <vt:lpstr>Human + AI Collaboration</vt:lpstr>
      <vt:lpstr>Workflow Redesign for AI-Assisted Execution</vt:lpstr>
      <vt:lpstr>Workflow Redesign for AI-Assisted Execution</vt:lpstr>
      <vt:lpstr>Workflow Redesign for AI-Assisted Execution</vt:lpstr>
      <vt:lpstr>Responsible AI (Bias, Safety, Accountability)</vt:lpstr>
      <vt:lpstr>Responsible AI (Bias, Safety, Accountability)</vt:lpstr>
      <vt:lpstr>Responsible AI (Bias, Safety, Accountability)</vt:lpstr>
      <vt:lpstr>Responsible AI (Bias, Safety, Accountability)</vt:lpstr>
      <vt:lpstr>Responsible AI (Bias, Safety, Accountability)</vt:lpstr>
      <vt:lpstr>Governance: Risks in AI Systems</vt:lpstr>
      <vt:lpstr>Governance: Risks in AI Systems</vt:lpstr>
      <vt:lpstr>Governance: Risks in AI Systems</vt:lpstr>
      <vt:lpstr>Governance: Risks in AI Systems</vt:lpstr>
      <vt:lpstr>Governance: Risks in AI Systems</vt:lpstr>
      <vt:lpstr>Governance: Risks in AI Systems</vt:lpstr>
      <vt:lpstr>Exercise</vt:lpstr>
      <vt:lpstr>ROI &amp; Strategic Alignment</vt:lpstr>
      <vt:lpstr>ROI Frameworks</vt:lpstr>
      <vt:lpstr>ROI Frameworks</vt:lpstr>
      <vt:lpstr>ROI Frameworks</vt:lpstr>
      <vt:lpstr>ROI Frameworks</vt:lpstr>
      <vt:lpstr>AI Adoption Roadmap for Business Units</vt:lpstr>
      <vt:lpstr>AI Adoption Roadmap for Business Units</vt:lpstr>
      <vt:lpstr>AI Adoption Roadmap for Business Units</vt:lpstr>
      <vt:lpstr>AI Adoption Roadmap for Business Units</vt:lpstr>
      <vt:lpstr>AI Adoption Roadmap for Business Units</vt:lpstr>
      <vt:lpstr>AI Adoption Roadmap for Business Units</vt:lpstr>
      <vt:lpstr>Exercise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Ajay Singala</dc:creator>
  <cp:lastModifiedBy>Ajay Singala</cp:lastModifiedBy>
  <cp:revision>97</cp:revision>
  <dcterms:created xsi:type="dcterms:W3CDTF">2026-04-01T13:32:53Z</dcterms:created>
  <dcterms:modified xsi:type="dcterms:W3CDTF">2026-04-02T14:38:04Z</dcterms:modified>
</cp:coreProperties>
</file>